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  <p:sldId id="261" r:id="rId5"/>
    <p:sldId id="262" r:id="rId6"/>
    <p:sldId id="270" r:id="rId7"/>
    <p:sldId id="266" r:id="rId8"/>
    <p:sldId id="265" r:id="rId9"/>
    <p:sldId id="267" r:id="rId10"/>
    <p:sldId id="269" r:id="rId11"/>
    <p:sldId id="271" r:id="rId12"/>
    <p:sldId id="272" r:id="rId13"/>
    <p:sldId id="273" r:id="rId14"/>
    <p:sldId id="275" r:id="rId15"/>
    <p:sldId id="276" r:id="rId16"/>
    <p:sldId id="27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image" Target="../media/image4.png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3.png"/><Relationship Id="rId2" Type="http://schemas.openxmlformats.org/officeDocument/2006/relationships/tags" Target="../tags/tag15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27.xml"/><Relationship Id="rId7" Type="http://schemas.openxmlformats.org/officeDocument/2006/relationships/image" Target="../media/image8.png"/><Relationship Id="rId6" Type="http://schemas.openxmlformats.org/officeDocument/2006/relationships/tags" Target="../tags/tag26.xml"/><Relationship Id="rId5" Type="http://schemas.microsoft.com/office/2007/relationships/hdphoto" Target="../media/image7.wdp"/><Relationship Id="rId4" Type="http://schemas.openxmlformats.org/officeDocument/2006/relationships/image" Target="../media/image6.pn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image" Target="../media/image2.png"/><Relationship Id="rId5" Type="http://schemas.openxmlformats.org/officeDocument/2006/relationships/tags" Target="../tags/tag64.xml"/><Relationship Id="rId4" Type="http://schemas.openxmlformats.org/officeDocument/2006/relationships/image" Target="../media/image1.png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3" y="0"/>
            <a:ext cx="12169827" cy="6858000"/>
          </a:xfrm>
          <a:prstGeom prst="rect">
            <a:avLst/>
          </a:prstGeom>
        </p:spPr>
      </p:pic>
      <p:pic>
        <p:nvPicPr>
          <p:cNvPr id="10" name="图片 9" descr="5858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965055" y="606425"/>
            <a:ext cx="1087755" cy="656590"/>
          </a:xfrm>
          <a:prstGeom prst="rect">
            <a:avLst/>
          </a:prstGeom>
        </p:spPr>
      </p:pic>
      <p:sp>
        <p:nvSpPr>
          <p:cNvPr id="9" name="署名"/>
          <p:cNvSpPr>
            <a:spLocks noGrp="1"/>
          </p:cNvSpPr>
          <p:nvPr>
            <p:ph type="body" idx="3" hasCustomPrompt="1"/>
            <p:custDataLst>
              <p:tags r:id="rId7"/>
            </p:custDataLst>
          </p:nvPr>
        </p:nvSpPr>
        <p:spPr>
          <a:xfrm>
            <a:off x="8994711" y="4309110"/>
            <a:ext cx="2158430" cy="511706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2">
                  <a:alpha val="5000"/>
                </a:schemeClr>
              </a:gs>
              <a:gs pos="100000">
                <a:schemeClr val="accent2">
                  <a:alpha val="15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chemeClr val="accent1">
                    <a:lumMod val="75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5984875" y="3815715"/>
            <a:ext cx="5229860" cy="429260"/>
          </a:xfrm>
          <a:prstGeom prst="rect">
            <a:avLst/>
          </a:prstGeom>
          <a:noFill/>
        </p:spPr>
        <p:txBody>
          <a:bodyPr wrap="square" lIns="0" tIns="0" rIns="71755" bIns="0" rtlCol="0" anchor="t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sz="1400" b="0" i="0" u="none" strike="noStrike" kern="1200" cap="none" spc="0" normalizeH="0" baseline="0" noProof="1" dirty="0" err="1">
                <a:solidFill>
                  <a:schemeClr val="accent1">
                    <a:lumMod val="7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 descr="7b0a20202020227461726765744d6f64756c65223a202270726f636573734f6e6c696e65466f6e7473220a7d0a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4284980" y="984885"/>
            <a:ext cx="6929755" cy="28308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"/>
          <a:stretch>
            <a:fillRect/>
          </a:stretch>
        </p:blipFill>
        <p:spPr>
          <a:xfrm>
            <a:off x="1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矩形 1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图片 35" descr="36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876915" y="1054100"/>
            <a:ext cx="642620" cy="335915"/>
          </a:xfrm>
          <a:prstGeom prst="rect">
            <a:avLst/>
          </a:prstGeom>
        </p:spPr>
      </p:pic>
      <p:pic>
        <p:nvPicPr>
          <p:cNvPr id="37" name="图片 36" descr="36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190230" y="3277235"/>
            <a:ext cx="448945" cy="234950"/>
          </a:xfrm>
          <a:prstGeom prst="rect">
            <a:avLst/>
          </a:prstGeom>
        </p:spPr>
      </p:pic>
      <p:pic>
        <p:nvPicPr>
          <p:cNvPr id="9" name="图片 8" descr="gg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24185" y="4663440"/>
            <a:ext cx="819150" cy="1224915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788669" y="835660"/>
            <a:ext cx="7602039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effectLst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75000"/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7000"/>
                    </a14:imgEffect>
                    <a14:imgEffect>
                      <a14:saturation sat="16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" y="0"/>
            <a:ext cx="12182475" cy="6858000"/>
          </a:xfrm>
          <a:prstGeom prst="rect">
            <a:avLst/>
          </a:prstGeom>
        </p:spPr>
      </p:pic>
      <p:pic>
        <p:nvPicPr>
          <p:cNvPr id="9" name="图片 8" descr="矢量智能对象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309485" y="2189480"/>
            <a:ext cx="780415" cy="897255"/>
          </a:xfrm>
          <a:prstGeom prst="rect">
            <a:avLst/>
          </a:prstGeom>
        </p:spPr>
      </p:pic>
      <p:pic>
        <p:nvPicPr>
          <p:cNvPr id="10" name="图片 9" descr="36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164320" y="1170305"/>
            <a:ext cx="642620" cy="335915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702309" y="2189480"/>
            <a:ext cx="6804480" cy="1948815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baseline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42" y="360000"/>
            <a:ext cx="10800397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42" y="360000"/>
            <a:ext cx="10799087" cy="864000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5124" cy="6858000"/>
          </a:xfrm>
          <a:prstGeom prst="rect">
            <a:avLst/>
          </a:prstGeom>
        </p:spPr>
      </p:pic>
      <p:pic>
        <p:nvPicPr>
          <p:cNvPr id="9" name="图片 8" descr="5858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965055" y="606425"/>
            <a:ext cx="1087755" cy="656590"/>
          </a:xfrm>
          <a:prstGeom prst="rect">
            <a:avLst/>
          </a:prstGeom>
        </p:spPr>
      </p:pic>
      <p:sp>
        <p:nvSpPr>
          <p:cNvPr id="8" name="署名"/>
          <p:cNvSpPr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8976049" y="4321810"/>
            <a:ext cx="2177091" cy="486566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2">
                  <a:alpha val="5000"/>
                </a:schemeClr>
              </a:gs>
              <a:gs pos="100000">
                <a:schemeClr val="accent2">
                  <a:alpha val="15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>
                <a:solidFill>
                  <a:schemeClr val="accent1">
                    <a:lumMod val="75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5059680" y="2042795"/>
            <a:ext cx="6155055" cy="20935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tags" Target="../tags/tag78.xml"/><Relationship Id="rId20" Type="http://schemas.openxmlformats.org/officeDocument/2006/relationships/tags" Target="../tags/tag77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6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image" Target="../media/image9.png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8000"/>
              <a:lumOff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alphaModFix amt="47000"/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2950" cy="6858000"/>
          </a:xfrm>
          <a:prstGeom prst="rect">
            <a:avLst/>
          </a:prstGeom>
        </p:spPr>
      </p:pic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dirty="0" smtClean="0">
          <a:solidFill>
            <a:srgbClr val="253A3F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0" normalizeH="0" baseline="0">
          <a:solidFill>
            <a:srgbClr val="253A3F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rgbClr val="253A3F"/>
          </a:solidFill>
          <a:uFillTx/>
          <a:latin typeface="+mn-lt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rgbClr val="253A3F"/>
          </a:solidFill>
          <a:uFillTx/>
          <a:latin typeface="+mn-lt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rgbClr val="253A3F"/>
          </a:solidFill>
          <a:uFillTx/>
          <a:latin typeface="+mn-lt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rgbClr val="253A3F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81.xml"/><Relationship Id="rId3" Type="http://schemas.openxmlformats.org/officeDocument/2006/relationships/image" Target="../media/image10.jpeg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8.xml"/><Relationship Id="rId3" Type="http://schemas.openxmlformats.org/officeDocument/2006/relationships/image" Target="../media/image11.png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1.xml"/><Relationship Id="rId3" Type="http://schemas.openxmlformats.org/officeDocument/2006/relationships/image" Target="../media/image12.png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1038225" y="2999740"/>
            <a:ext cx="10518140" cy="3409950"/>
          </a:xfrm>
        </p:spPr>
        <p:txBody>
          <a:bodyPr>
            <a:noAutofit/>
          </a:bodyPr>
          <a:lstStyle/>
          <a:p>
            <a:pPr marL="228600" indent="-457200" algn="l">
              <a:buFont typeface="Wingdings" panose="05000000000000000000" charset="0"/>
              <a:buChar char="ü"/>
            </a:pPr>
            <a:r>
              <a:rPr lang="en-I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Domain: Data Analytics / Sales Insights</a:t>
            </a:r>
            <a:endParaRPr lang="en-IN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 algn="l">
              <a:buFont typeface="Wingdings" panose="05000000000000000000" charset="0"/>
              <a:buChar char="ü"/>
            </a:pPr>
            <a:r>
              <a:rPr lang="en-US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lang="en-I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ools Used: SQL, Tableau, MS Excel</a:t>
            </a:r>
            <a:endParaRPr lang="en-IN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 marL="457200" indent="-457200" algn="l">
              <a:buFont typeface="Wingdings" panose="05000000000000000000" charset="0"/>
              <a:buChar char="ü"/>
            </a:pPr>
            <a:r>
              <a:rPr lang="en-I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Techniques: Data Cleaning, EDA, Dashboarding</a:t>
            </a:r>
            <a:endParaRPr lang="en-IN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 indent="0" algn="l">
              <a:buFont typeface="Wingdings" panose="05000000000000000000" charset="0"/>
            </a:pPr>
            <a:endParaRPr lang="en-IN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 indent="0" algn="l">
              <a:buFont typeface="Wingdings" panose="05000000000000000000" charset="0"/>
            </a:pPr>
            <a:endParaRPr lang="en-IN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 indent="0" algn="r">
              <a:buFont typeface="Wingdings" panose="05000000000000000000" charset="0"/>
            </a:pPr>
            <a:r>
              <a:rPr lang="en-I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      Presented By: K.Sathvika</a:t>
            </a:r>
            <a:endParaRPr lang="en-I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76275" y="692150"/>
            <a:ext cx="9398635" cy="1883410"/>
          </a:xfrm>
        </p:spPr>
        <p:txBody>
          <a:bodyPr>
            <a:normAutofit/>
          </a:bodyPr>
          <a:lstStyle/>
          <a:p>
            <a:pPr algn="ctr"/>
            <a:r>
              <a:rPr lang="en-IN" altLang="zh-CN" sz="6000" b="1" dirty="0"/>
              <a:t>  Pizza Sales Analysis</a:t>
            </a:r>
            <a:endParaRPr lang="en-IN" altLang="zh-CN" sz="6000" b="1" dirty="0"/>
          </a:p>
        </p:txBody>
      </p:sp>
      <p:sp>
        <p:nvSpPr>
          <p:cNvPr id="2" name="Text Box 1"/>
          <p:cNvSpPr txBox="1"/>
          <p:nvPr/>
        </p:nvSpPr>
        <p:spPr>
          <a:xfrm>
            <a:off x="10451465" y="31172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3" name="Picture 2" descr="pizzas logo"/>
          <p:cNvPicPr>
            <a:picLocks noChangeAspect="1"/>
          </p:cNvPicPr>
          <p:nvPr/>
        </p:nvPicPr>
        <p:blipFill>
          <a:blip r:embed="rId3">
            <a:clrChange>
              <a:clrFrom>
                <a:srgbClr val="F8E8CF">
                  <a:alpha val="100000"/>
                </a:srgbClr>
              </a:clrFrom>
              <a:clrTo>
                <a:srgbClr val="F8E8C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24215" y="2936240"/>
            <a:ext cx="3131185" cy="31311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10800080" cy="1899285"/>
          </a:xfrm>
        </p:spPr>
        <p:txBody>
          <a:bodyPr/>
          <a:p>
            <a:pPr algn="ctr"/>
            <a:r>
              <a:rPr lang="en-IN" altLang="en-US" sz="4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Introduction</a:t>
            </a:r>
            <a:endParaRPr lang="en-IN" altLang="en-US" sz="4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2585720"/>
            <a:ext cx="10800080" cy="3589655"/>
          </a:xfrm>
        </p:spPr>
        <p:txBody>
          <a:bodyPr/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This project analyzes pizza sales data to understand customer buying behavior, revenue performance, and product popularity.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Using SQL for analysis and Tableau for dashboards, it highlights key sales trends to support datadriven decisions.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10800080" cy="1329690"/>
          </a:xfrm>
        </p:spPr>
        <p:txBody>
          <a:bodyPr>
            <a:noAutofit/>
          </a:bodyPr>
          <a:p>
            <a:pPr algn="ctr"/>
            <a:r>
              <a:rPr lang="en-IN" altLang="en-US" sz="4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Objective</a:t>
            </a:r>
            <a:endParaRPr lang="en-IN" altLang="en-US" sz="4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965960"/>
            <a:ext cx="10800080" cy="4209415"/>
          </a:xfrm>
        </p:spPr>
        <p:txBody>
          <a:bodyPr/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To identify best-selling and least-selling pizzas.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To analyze monthly and weeky sales performance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To find most preferred pizza sizes and categories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To understand customer ordering trends 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To support business decisions like inventory planning and staff scheduling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10800080" cy="1172845"/>
          </a:xfrm>
        </p:spPr>
        <p:txBody>
          <a:bodyPr>
            <a:noAutofit/>
          </a:bodyPr>
          <a:p>
            <a:pPr algn="ctr"/>
            <a:r>
              <a:rPr lang="en-IN" altLang="en-US" sz="4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Tools Used</a:t>
            </a:r>
            <a:endParaRPr lang="en-IN" altLang="en-US" sz="4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001395" y="2196465"/>
            <a:ext cx="10494645" cy="4336415"/>
          </a:xfrm>
        </p:spPr>
        <p:txBody>
          <a:bodyPr/>
          <a:p>
            <a:pPr algn="l"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SQL: Data Cleaning, aggregation &amp; sales analysis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 algn="l"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Tableau:  Interactive dashboards &amp; visual insights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 algn="l"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MS Excel / CSV: Data storage, preparation &amp; import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10800080" cy="1069975"/>
          </a:xfrm>
        </p:spPr>
        <p:txBody>
          <a:bodyPr>
            <a:noAutofit/>
          </a:bodyPr>
          <a:p>
            <a:pPr algn="ctr"/>
            <a:r>
              <a:rPr lang="en-IN" altLang="en-US" sz="4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Dataset Description</a:t>
            </a:r>
            <a:endParaRPr lang="en-IN" altLang="en-US" sz="4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852295"/>
            <a:ext cx="10800080" cy="4323080"/>
          </a:xfrm>
        </p:spPr>
        <p:txBody>
          <a:bodyPr/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The dataset contains detailed pizza sales records from a restaurant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Includes order details, pizza types, prices, quantities &amp; order timestamps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Total Data Size: 48,620 rows &amp; 12 columns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Columns include order ID, pizza name, category, size, quantity &amp; total price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Used for identifying sales trends, top products &amp; revenue performance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SzPct val="70000"/>
              <a:buNone/>
            </a:pPr>
            <a:endParaRPr lang="en-IN" altLang="en-US" sz="28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IN" altLang="en-US" sz="2800"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95885"/>
            <a:ext cx="10800080" cy="953135"/>
          </a:xfrm>
        </p:spPr>
        <p:txBody>
          <a:bodyPr>
            <a:noAutofit/>
          </a:bodyPr>
          <a:p>
            <a:pPr marL="0" indent="0" algn="ctr">
              <a:buSzPct val="85000"/>
              <a:buFont typeface="Arial" panose="020B0604020202020204" pitchFamily="34" charset="0"/>
            </a:pPr>
            <a:r>
              <a:rPr lang="en-IN" altLang="en-US" sz="4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 Columns in Dataset</a:t>
            </a:r>
            <a:endParaRPr lang="en-IN" altLang="en-US" sz="4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132840"/>
            <a:ext cx="10800080" cy="5434965"/>
          </a:xfrm>
        </p:spPr>
        <p:txBody>
          <a:bodyPr>
            <a:noAutofit/>
          </a:bodyPr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order_id: Unique identifier for each order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order_date &amp; order_time: When the order was placed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pizza_name &amp; pizza_id: Specfic piza details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pizza_category: Type of pizza (Classic, Veggie, Supreme, ect.)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pizza_size: Available sizes (S, M, L, XL, XXL)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quantity: Number of pizzas ordered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unit_price &amp; total_price: Price per pizza &amp; total billing amount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pizza_ingredients: Components used in each pizza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0"/>
            <a:ext cx="10800080" cy="1177925"/>
          </a:xfrm>
        </p:spPr>
        <p:txBody>
          <a:bodyPr>
            <a:noAutofit/>
          </a:bodyPr>
          <a:p>
            <a:pPr algn="ctr"/>
            <a:r>
              <a:rPr lang="en-IN" altLang="en-US" sz="4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Cleaning</a:t>
            </a:r>
            <a:endParaRPr lang="en-IN" altLang="en-US" sz="4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475105"/>
            <a:ext cx="10800080" cy="4700270"/>
          </a:xfrm>
        </p:spPr>
        <p:txBody>
          <a:bodyPr>
            <a:normAutofit lnSpcReduction="20000"/>
          </a:bodyPr>
          <a:p>
            <a:pPr>
              <a:buSzPct val="70000"/>
            </a:pPr>
            <a:r>
              <a:rPr lang="en-I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Checked for missing or null values in key columns using SQL</a:t>
            </a:r>
            <a:endParaRPr lang="en-IN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Removed duplicate records to ensure data accuracy</a:t>
            </a:r>
            <a:endParaRPr lang="en-IN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Verified and formatted dates &amp; times for consistency</a:t>
            </a:r>
            <a:endParaRPr lang="en-IN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Cleaned dataset ready for analysis and visualization</a:t>
            </a:r>
            <a:endParaRPr lang="en-IN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SzPct val="70000"/>
              <a:buNone/>
            </a:pPr>
            <a:endParaRPr lang="en-IN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 algn="l">
              <a:buSzPct val="70000"/>
              <a:buFont typeface="Wingdings" panose="05000000000000000000" charset="0"/>
              <a:buChar char="ü"/>
            </a:pPr>
            <a:r>
              <a:rPr lang="en-IN" altLang="en-US">
                <a:latin typeface="Calibri" panose="020F0502020204030204" charset="0"/>
                <a:cs typeface="Calibri" panose="020F0502020204030204" charset="0"/>
              </a:rPr>
              <a:t>Check missing values</a:t>
            </a:r>
            <a:endParaRPr lang="en-IN" altLang="en-US">
              <a:latin typeface="Calibri" panose="020F0502020204030204" charset="0"/>
              <a:cs typeface="Calibri" panose="020F0502020204030204" charset="0"/>
            </a:endParaRPr>
          </a:p>
          <a:p>
            <a:pPr marL="0" indent="0" algn="l">
              <a:buSzPct val="70000"/>
              <a:buNone/>
            </a:pPr>
            <a:r>
              <a:rPr lang="en-IN" altLang="en-US">
                <a:latin typeface="Calibri" panose="020F0502020204030204" charset="0"/>
                <a:cs typeface="Calibri" panose="020F0502020204030204" charset="0"/>
              </a:rPr>
              <a:t>SELECT SUM(CASE WHEN order_id IS NULL THEN 1 ELSE 0 END) AS missing_order_id FROM pizza_data;</a:t>
            </a:r>
            <a:endParaRPr lang="en-IN" altLang="en-US">
              <a:latin typeface="Calibri" panose="020F0502020204030204" charset="0"/>
              <a:cs typeface="Calibri" panose="020F0502020204030204" charset="0"/>
            </a:endParaRPr>
          </a:p>
          <a:p>
            <a:pPr algn="l">
              <a:buSzPct val="70000"/>
              <a:buFont typeface="Wingdings" panose="05000000000000000000" charset="0"/>
              <a:buChar char="ü"/>
            </a:pPr>
            <a:r>
              <a:rPr lang="en-IN" altLang="en-US">
                <a:latin typeface="Calibri" panose="020F0502020204030204" charset="0"/>
                <a:cs typeface="Calibri" panose="020F0502020204030204" charset="0"/>
              </a:rPr>
              <a:t>Remove duplicated</a:t>
            </a:r>
            <a:endParaRPr lang="en-IN" altLang="en-US">
              <a:latin typeface="Calibri" panose="020F0502020204030204" charset="0"/>
              <a:cs typeface="Calibri" panose="020F0502020204030204" charset="0"/>
            </a:endParaRPr>
          </a:p>
          <a:p>
            <a:pPr marL="0" indent="0" algn="l">
              <a:buSzPct val="70000"/>
              <a:buNone/>
            </a:pPr>
            <a:r>
              <a:rPr lang="en-IN" altLang="en-US">
                <a:latin typeface="Calibri" panose="020F0502020204030204" charset="0"/>
                <a:cs typeface="Calibri" panose="020F0502020204030204" charset="0"/>
              </a:rPr>
              <a:t>SELECT DISTINCT * FROM pizza_data;</a:t>
            </a:r>
            <a:endParaRPr lang="en-IN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170815"/>
            <a:ext cx="10800080" cy="1162050"/>
          </a:xfrm>
        </p:spPr>
        <p:txBody>
          <a:bodyPr/>
          <a:p>
            <a:pPr algn="ctr"/>
            <a:r>
              <a:rPr lang="en-I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Exploratory Data Analysis (EDA)</a:t>
            </a:r>
            <a:endParaRPr lang="en-IN" altLang="en-US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502410"/>
            <a:ext cx="10800080" cy="5199380"/>
          </a:xfrm>
        </p:spPr>
        <p:txBody>
          <a:bodyPr>
            <a:scene3d>
              <a:camera prst="orthographicFront"/>
              <a:lightRig rig="threePt" dir="t"/>
            </a:scene3d>
          </a:bodyPr>
          <a:p>
            <a:pPr>
              <a:buSzPct val="85000"/>
              <a:buFont typeface="Wingdings" panose="05000000000000000000" charset="0"/>
              <a:buChar char="ü"/>
            </a:pPr>
            <a:r>
              <a:rPr lang="en-IN" altLang="en-US" sz="32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IN" altLang="en-US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Sales Trends</a:t>
            </a:r>
            <a:endParaRPr lang="en-IN" altLang="en-US" sz="32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Analyzed overall sales performance and daily order volumes.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Monitored month-wise revenue and order count growth.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Identified peak sales days and weekly order distribution.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Evaluted weekend vs weekday demand patterns.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Detected seasonal or festive spikes in pizza ordering.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Observed overall sales trends to support business forecasting.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/>
              <a:t> 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649605"/>
            <a:ext cx="10800080" cy="5525770"/>
          </a:xfrm>
        </p:spPr>
        <p:txBody>
          <a:bodyPr/>
          <a:p>
            <a:pPr>
              <a:buFont typeface="Wingdings" panose="05000000000000000000" charset="0"/>
              <a:buChar char="ü"/>
            </a:pPr>
            <a:r>
              <a:rPr lang="en-IN" altLang="en-US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Product &amp; Customer Insights</a:t>
            </a:r>
            <a:endParaRPr lang="en-IN" altLang="en-US" sz="32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Determined highest-selling pizzas based on revenue and quantity.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Compared category performance (Classic, Supreme, Veg, Non-Veg).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Analyzed pizza size preferences and customer buying patterns.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Identified top revenue-generating pizza combinations.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Measured order frequency during lunch and dinner peak hours.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Highlighted best-performing items for marketing and upselling. 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l"/>
            <a:r>
              <a:rPr lang="en-I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Dashboard 1: Sales &amp; KPI Overview</a:t>
            </a:r>
            <a:endParaRPr lang="en-IN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Content Placeholder 3" descr="Screenshot 2025-10-31 193257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18920" y="1459230"/>
            <a:ext cx="9248775" cy="51263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Dashboard 2: Category &amp; Order-Level Overview</a:t>
            </a:r>
            <a:endParaRPr lang="en-IN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Content Placeholder 3" descr="Screenshot 2025-10-31 19361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51635" y="1301750"/>
            <a:ext cx="8887460" cy="50844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560070"/>
            <a:ext cx="10800080" cy="846455"/>
          </a:xfrm>
        </p:spPr>
        <p:txBody>
          <a:bodyPr>
            <a:normAutofit/>
          </a:bodyPr>
          <a:p>
            <a:pPr algn="ctr"/>
            <a:r>
              <a:rPr lang="en-IN" alt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 Insights from Dashboards</a:t>
            </a:r>
            <a:endParaRPr lang="en-IN" altLang="en-US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776095"/>
            <a:ext cx="10800080" cy="4830445"/>
          </a:xfrm>
        </p:spPr>
        <p:txBody>
          <a:bodyPr/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Classic &amp; Large -size pizzas generated the highest revenue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Top-selling pizzas contribute majarity of total orders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Weekend days show peak customer demand (Friday &amp; Saturday)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Medium and Large pizzas are most preferred by customers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Least selling pizzas indicate menu improvement opportunities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706755"/>
            <a:ext cx="10800080" cy="656590"/>
          </a:xfrm>
        </p:spPr>
        <p:txBody>
          <a:bodyPr>
            <a:normAutofit fontScale="90000"/>
          </a:bodyPr>
          <a:p>
            <a:pPr algn="ctr"/>
            <a:r>
              <a:rPr lang="en-IN" altLang="en-US" sz="4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Conclusion</a:t>
            </a:r>
            <a:endParaRPr lang="en-IN" altLang="en-US" sz="4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637665"/>
            <a:ext cx="10800080" cy="4537710"/>
          </a:xfrm>
        </p:spPr>
        <p:txBody>
          <a:bodyPr/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Project successfully analyzed pizza sales using SQL &amp; Tableau.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Identified best-selling pizzas, categories, and popular sizes.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Sales trends showed higher orders on weekends and mid-year months.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Insights help in menu improvements, stock planning &amp; staffing decisions.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pPr>
              <a:buSzPct val="70000"/>
            </a:pPr>
            <a:r>
              <a:rPr lang="en-I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Strengthend skills in data analysis, SQL querying &amp; dashboard creation.</a:t>
            </a:r>
            <a:endParaRPr lang="en-IN" alt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5059680" y="2042795"/>
            <a:ext cx="6155055" cy="2093595"/>
          </a:xfrm>
        </p:spPr>
        <p:txBody>
          <a:bodyPr/>
          <a:lstStyle/>
          <a:p>
            <a:r>
              <a:rPr lang="en-IN" altLang="en-US" b="1">
                <a:ln/>
                <a:solidFill>
                  <a:schemeClr val="tx1"/>
                </a:solidFill>
                <a:effectLst/>
              </a:rPr>
              <a:t>THANK YOU</a:t>
            </a:r>
            <a:endParaRPr lang="en-IN" altLang="en-US" b="1">
              <a:ln/>
              <a:solidFill>
                <a:schemeClr val="tx1"/>
              </a:solidFill>
              <a:effectLst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壳儿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9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9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壳儿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79"/>
</p:tagLst>
</file>

<file path=ppt/tags/tag76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79"/>
</p:tagLst>
</file>

<file path=ppt/tags/tag77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79"/>
</p:tagLst>
</file>

<file path=ppt/tags/tag7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9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ISCONTENTSTITLE" val="0"/>
  <p:tag name="KSO_WM_UNIT_ISNUMDGMTITLE" val="0"/>
  <p:tag name="KSO_WM_UNIT_PRESET_TEXT" val="Add description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7979_1*b*1"/>
  <p:tag name="KSO_WM_TEMPLATE_CATEGORY" val="custom"/>
  <p:tag name="KSO_WM_TEMPLATE_INDEX" val="20237979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79_1*a*1"/>
  <p:tag name="KSO_WM_TEMPLATE_CATEGORY" val="custom"/>
  <p:tag name="KSO_WM_TEMPLATE_INDEX" val="20237979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SPECIAL_SOURCE" val="bdnull"/>
  <p:tag name="KSO_WM_TEMPLATE_THUMBS_INDEX" val="1、11"/>
  <p:tag name="KSO_WM_SLIDE_CONTENT_AREA" val="{&quot;left&quot;:&quot;462.85&quot;,&quot;top&quot;:&quot;118.75&quot;,&quot;width&quot;:&quot;459.25&quot;,&quot;height&quot;:&quot;265.1&quot;}"/>
  <p:tag name="KSO_WM_SLIDE_ID" val="custom2023797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7979"/>
  <p:tag name="KSO_WM_SLIDE_LAYOUT" val="a_b_f"/>
  <p:tag name="KSO_WM_SLIDE_LAYOUT_CNT" val="1_1_1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11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7979_11*a*1"/>
  <p:tag name="KSO_WM_TEMPLATE_CATEGORY" val="custom"/>
  <p:tag name="KSO_WM_TEMPLATE_INDEX" val="20237979"/>
  <p:tag name="KSO_WM_UNIT_LAYERLEVEL" val="1"/>
  <p:tag name="KSO_WM_TAG_VERSION" val="3.0"/>
  <p:tag name="KSO_WM_BEAUTIFY_FLAG" val="#wm#"/>
  <p:tag name="KSO_WM_UNIT_PRESET_TEXT" val="THANK YOU"/>
</p:tagLst>
</file>

<file path=ppt/tags/tag119.xml><?xml version="1.0" encoding="utf-8"?>
<p:tagLst xmlns:p="http://schemas.openxmlformats.org/presentationml/2006/main">
  <p:tag name="KSO_WM_SPECIAL_SOURCE" val="bdnull"/>
  <p:tag name="KSO_WM_SLIDE_CONTENT_AREA" val="{&quot;left&quot;:&quot;462.85&quot;,&quot;top&quot;:&quot;118.75&quot;,&quot;width&quot;:&quot;459.25&quot;,&quot;height&quot;:&quot;265.1&quot;}"/>
  <p:tag name="KSO_WM_SLIDE_ID" val="custom20237979_11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11"/>
  <p:tag name="KSO_WM_TAG_VERSION" val="3.0"/>
  <p:tag name="KSO_WM_BEAUTIFY_FLAG" val="#wm#"/>
  <p:tag name="KSO_WM_TEMPLATE_CATEGORY" val="custom"/>
  <p:tag name="KSO_WM_TEMPLATE_INDEX" val="20237979"/>
  <p:tag name="KSO_WM_SLIDE_LAYOUT" val="a_f"/>
  <p:tag name="KSO_WM_SLIDE_LAYOUT_CNT" val="1_1"/>
</p:tagLst>
</file>

<file path=ppt/theme/theme1.xml><?xml version="1.0" encoding="utf-8"?>
<a:theme xmlns:a="http://schemas.openxmlformats.org/drawingml/2006/main" name="1_Office Theme">
  <a:themeElements>
    <a:clrScheme name="自定义 69">
      <a:dk1>
        <a:srgbClr val="000000"/>
      </a:dk1>
      <a:lt1>
        <a:srgbClr val="FFFFFF"/>
      </a:lt1>
      <a:dk2>
        <a:srgbClr val="253A3F"/>
      </a:dk2>
      <a:lt2>
        <a:srgbClr val="ADC8CE"/>
      </a:lt2>
      <a:accent1>
        <a:srgbClr val="578591"/>
      </a:accent1>
      <a:accent2>
        <a:srgbClr val="77A3AE"/>
      </a:accent2>
      <a:accent3>
        <a:srgbClr val="D36250"/>
      </a:accent3>
      <a:accent4>
        <a:srgbClr val="EC9B86"/>
      </a:accent4>
      <a:accent5>
        <a:srgbClr val="A0B9C6"/>
      </a:accent5>
      <a:accent6>
        <a:srgbClr val="B1B3D3"/>
      </a:accent6>
      <a:hlink>
        <a:srgbClr val="EC5F74"/>
      </a:hlink>
      <a:folHlink>
        <a:srgbClr val="6096E6"/>
      </a:folHlink>
    </a:clrScheme>
    <a:fontScheme name="字体-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3501</Words>
  <Application>WPS Presentation</Application>
  <PresentationFormat>Widescreen</PresentationFormat>
  <Paragraphs>103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Wingdings</vt:lpstr>
      <vt:lpstr>Calibri</vt:lpstr>
      <vt:lpstr>Charis SIL</vt:lpstr>
      <vt:lpstr>Segoe Print</vt:lpstr>
      <vt:lpstr>Crimson Text SemiBold</vt:lpstr>
      <vt:lpstr>Microsoft YaHei</vt:lpstr>
      <vt:lpstr>Arial Unicode MS</vt:lpstr>
      <vt:lpstr>1_Office Theme</vt:lpstr>
      <vt:lpstr>  Pizza Sales Analysis</vt:lpstr>
      <vt:lpstr>Introduction</vt:lpstr>
      <vt:lpstr>Objective</vt:lpstr>
      <vt:lpstr>Tools Used</vt:lpstr>
      <vt:lpstr>Dataset Description</vt:lpstr>
      <vt:lpstr>Key Columns in Dataset</vt:lpstr>
      <vt:lpstr>Data Cleaning</vt:lpstr>
      <vt:lpstr>Exploratory Data Analysis (EDA)</vt:lpstr>
      <vt:lpstr> </vt:lpstr>
      <vt:lpstr>Dashboard 1: Sales &amp; KPI Overview</vt:lpstr>
      <vt:lpstr>Dashboard 2: Category &amp; Order-Level Overview</vt:lpstr>
      <vt:lpstr>Key Insights from Dashboards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sathv</dc:creator>
  <cp:lastModifiedBy>Sathvika Chary</cp:lastModifiedBy>
  <cp:revision>6</cp:revision>
  <dcterms:created xsi:type="dcterms:W3CDTF">2025-07-23T00:59:00Z</dcterms:created>
  <dcterms:modified xsi:type="dcterms:W3CDTF">2025-12-08T08:05:59Z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A5DF6A56364C44548D7AEACD7E8AAA0D_13</vt:lpwstr>
  </property>
  <property fmtid="{D5CDD505-2E9C-101B-9397-08002B2CF9AE}" pid="3" name="KSOProductBuildVer">
    <vt:lpwstr>1033-12.2.0.23155</vt:lpwstr>
  </property>
</Properties>
</file>